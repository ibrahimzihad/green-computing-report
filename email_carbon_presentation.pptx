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4" d="100"/>
          <a:sy n="154" d="100"/>
        </p:scale>
        <p:origin x="38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3626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C5F2D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57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Hidden Environmental Cost of Email Communication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914400" y="2560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Green Computing Approach to Reducing Digital Carbon Footprint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914400" y="3474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Md. Ibrahim Zihad, Md. Foysal Hossain Khan, Shohada Rahman,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Afia Anjum, Mahfuza Lubna Nuvia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and Engineering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International University, Dhaka, Bangladesh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C5F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Introduction &amp; Motivation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10972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3748"/>
                </a:solidFill>
              </a:rPr>
              <a:t>Ubiquity of Email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D3748"/>
                </a:solidFill>
              </a:rPr>
              <a:t>Billions of emails exchanged daily globally for business, academic, and social interactions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920240"/>
            <a:ext cx="3840480" cy="1097280"/>
          </a:xfrm>
          <a:prstGeom prst="rect">
            <a:avLst/>
          </a:prstGeom>
          <a:solidFill>
            <a:srgbClr val="F96167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" y="201168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Hidden Cost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Every email activity consumes energy across devices, networks, and data centers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54880" y="1920240"/>
            <a:ext cx="3840480" cy="1097280"/>
          </a:xfrm>
          <a:prstGeom prst="rect">
            <a:avLst/>
          </a:prstGeom>
          <a:solidFill>
            <a:srgbClr val="97BC62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846320" y="201168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Core Issue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Data centers require massive electricity for storage, processing, and cooling</a:t>
            </a:r>
            <a:endParaRPr lang="en-US" sz="14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8328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3748"/>
                </a:solidFill>
              </a:rPr>
              <a:t>Research Objective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D3748"/>
                </a:solidFill>
              </a:rPr>
              <a:t>Highlight hidden environmental pollution and propose a technology-driven, AI-based solution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C5F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Environmental Impact of Emails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560320" cy="1371600"/>
          </a:xfrm>
          <a:prstGeom prst="rect">
            <a:avLst/>
          </a:prstGeom>
          <a:solidFill>
            <a:srgbClr val="97BC62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3716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Standard Emails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 </a:t>
            </a:r>
            <a:endParaRPr lang="en-US" sz="14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0.3–4g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CO₂ per email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91840" y="1280160"/>
            <a:ext cx="2560320" cy="1371600"/>
          </a:xfrm>
          <a:prstGeom prst="rect">
            <a:avLst/>
          </a:prstGeom>
          <a:solidFill>
            <a:srgbClr val="F96167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383280" y="13716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With Attachments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 </a:t>
            </a:r>
            <a:endParaRPr lang="en-US" sz="14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Up to 50g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CO₂ per email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35040" y="1280160"/>
            <a:ext cx="2560320" cy="137160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26480" y="13716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Spam Emails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 </a:t>
            </a:r>
            <a:endParaRPr lang="en-US" sz="14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High Volume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Avoidable waste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8046720" cy="1371600"/>
          </a:xfrm>
          <a:prstGeom prst="rect">
            <a:avLst/>
          </a:prstGeom>
          <a:solidFill>
            <a:srgbClr val="2C5F2D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32004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💡 Behavioral Impact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</a:rPr>
              <a:t> 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</a:rPr>
              <a:t>Reducing just ONE unnecessary email per person per day can lead to significant national-level carbon emission reductions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C5F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Limitations in Existing Research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8229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Shape 2"/>
          <p:cNvSpPr/>
          <p:nvPr/>
        </p:nvSpPr>
        <p:spPr>
          <a:xfrm>
            <a:off x="530352" y="1188720"/>
            <a:ext cx="8156448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2801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</a:rPr>
              <a:t>Lack of Practical Solutions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Studies focus on estimating emissions and raising awareness rather than offering automated solutions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73152" cy="8229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8" name="Shape 6"/>
          <p:cNvSpPr/>
          <p:nvPr/>
        </p:nvSpPr>
        <p:spPr>
          <a:xfrm>
            <a:off x="530352" y="2103120"/>
            <a:ext cx="8156448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1945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</a:rPr>
              <a:t>Behavioral vs. Technological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5146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Most approaches emphasize human behavioral changes over leveraging ML technologies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73152" cy="8229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2" name="Shape 10"/>
          <p:cNvSpPr/>
          <p:nvPr/>
        </p:nvSpPr>
        <p:spPr>
          <a:xfrm>
            <a:off x="530352" y="3017520"/>
            <a:ext cx="8156448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1089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</a:rPr>
              <a:t>No Real-time Monitoring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3429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Absence of real-time tracking, predictive modeling, or ML techniques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931920"/>
            <a:ext cx="73152" cy="8229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6" name="Shape 14"/>
          <p:cNvSpPr/>
          <p:nvPr/>
        </p:nvSpPr>
        <p:spPr>
          <a:xfrm>
            <a:off x="530352" y="3931920"/>
            <a:ext cx="8156448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023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</a:rPr>
              <a:t>Lack of Personalization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4343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Missing personalized emission tracking and scalable solutions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C5F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Gap &amp; Benchmark Analysis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97BC62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2801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Identified Research Gaps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No automated systems for measuring email carbon footprint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Absence of predictive systems for digital carbon footprints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No implementation-level solutions for digital sustainability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2C5F2D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12801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This Paper's Contribution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937760" y="17373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✓ Focused scope on email sustainability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✓ Strong ML usage &amp; implementation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✓ System deployment &amp; evaluation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✓ Strong sustainability focus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2D3748"/>
                </a:solidFill>
              </a:rPr>
              <a:t>Unlike previous studies (GEECO, ICT Carbon studies), this research combines ML implementation with actual system deployment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C5F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Proposed Methodology - Framework Overview</a:t>
            </a:r>
            <a:endParaRPr lang="en-US" sz="3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097280"/>
            <a:ext cx="4572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2011680"/>
            <a:ext cx="1371600" cy="731520"/>
          </a:xfrm>
          <a:prstGeom prst="rect">
            <a:avLst/>
          </a:prstGeom>
          <a:solidFill>
            <a:srgbClr val="97BC62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457200" y="2148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Dataset Utilization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1828800" y="2331720"/>
            <a:ext cx="73152" cy="1371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7" name="Shape 4"/>
          <p:cNvSpPr/>
          <p:nvPr/>
        </p:nvSpPr>
        <p:spPr>
          <a:xfrm>
            <a:off x="1901952" y="2011680"/>
            <a:ext cx="1371600" cy="731520"/>
          </a:xfrm>
          <a:prstGeom prst="rect">
            <a:avLst/>
          </a:prstGeom>
          <a:solidFill>
            <a:srgbClr val="2C5F2D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901952" y="2148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 Preprocessing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73552" y="2331720"/>
            <a:ext cx="73152" cy="1371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0" name="Shape 7"/>
          <p:cNvSpPr/>
          <p:nvPr/>
        </p:nvSpPr>
        <p:spPr>
          <a:xfrm>
            <a:off x="3346704" y="2011680"/>
            <a:ext cx="1371600" cy="731520"/>
          </a:xfrm>
          <a:prstGeom prst="rect">
            <a:avLst/>
          </a:prstGeom>
          <a:solidFill>
            <a:srgbClr val="97BC62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346704" y="2148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Spam Detection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18304" y="2331720"/>
            <a:ext cx="73152" cy="1371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3" name="Shape 10"/>
          <p:cNvSpPr/>
          <p:nvPr/>
        </p:nvSpPr>
        <p:spPr>
          <a:xfrm>
            <a:off x="4791456" y="2011680"/>
            <a:ext cx="1371600" cy="731520"/>
          </a:xfrm>
          <a:prstGeom prst="rect">
            <a:avLst/>
          </a:prstGeom>
          <a:solidFill>
            <a:srgbClr val="2C5F2D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791456" y="2148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Importance Classification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63056" y="2331720"/>
            <a:ext cx="73152" cy="1371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6" name="Shape 13"/>
          <p:cNvSpPr/>
          <p:nvPr/>
        </p:nvSpPr>
        <p:spPr>
          <a:xfrm>
            <a:off x="6236208" y="2011680"/>
            <a:ext cx="1371600" cy="731520"/>
          </a:xfrm>
          <a:prstGeom prst="rect">
            <a:avLst/>
          </a:prstGeom>
          <a:solidFill>
            <a:srgbClr val="97BC62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236208" y="2148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Carbon Emission Estimation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607808" y="2331720"/>
            <a:ext cx="73152" cy="1371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9" name="Shape 16"/>
          <p:cNvSpPr/>
          <p:nvPr/>
        </p:nvSpPr>
        <p:spPr>
          <a:xfrm>
            <a:off x="7680960" y="2011680"/>
            <a:ext cx="1371600" cy="731520"/>
          </a:xfrm>
          <a:prstGeom prst="rect">
            <a:avLst/>
          </a:prstGeom>
          <a:solidFill>
            <a:srgbClr val="2C5F2D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680960" y="2148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System-level Evaluation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2D3748"/>
                </a:solidFill>
              </a:rPr>
              <a:t>A sequential decision-making process where each stage refines the output to filter unnecessary emails early, reducing downstream energy consumption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C5F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Source and Preparation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4572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371600" y="1097280"/>
            <a:ext cx="3474720" cy="1828800"/>
          </a:xfrm>
          <a:prstGeom prst="rect">
            <a:avLst/>
          </a:prstGeom>
          <a:solidFill>
            <a:srgbClr val="97BC62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1463040" y="11887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Dataset 1: combined_data.csv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554480" y="160020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Purpose:</a:t>
            </a:r>
            <a:r>
              <a:rPr lang="en-US" sz="1200" dirty="0">
                <a:solidFill>
                  <a:srgbClr val="FFFFFF"/>
                </a:solidFill>
              </a:rPr>
              <a:t> Training spam detection and importance classification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Features: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Email length, links, attachments, sender type, subject characteristics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Target Labels:</a:t>
            </a:r>
            <a:r>
              <a:rPr lang="en-US" sz="1200" dirty="0">
                <a:solidFill>
                  <a:srgbClr val="FFFFFF"/>
                </a:solidFill>
              </a:rPr>
              <a:t> is_spam &amp; importance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0" y="1097280"/>
            <a:ext cx="3474720" cy="1828800"/>
          </a:xfrm>
          <a:prstGeom prst="rect">
            <a:avLst/>
          </a:prstGeom>
          <a:solidFill>
            <a:srgbClr val="2C5F2D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120640" y="11887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Dataset 2: email_carbon_dataset.csv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212080" y="160020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Purpose:</a:t>
            </a:r>
            <a:r>
              <a:rPr lang="en-US" sz="1200" dirty="0">
                <a:solidFill>
                  <a:srgbClr val="FFFFFF"/>
                </a:solidFill>
              </a:rPr>
              <a:t> Training carbon emission estimation model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Features: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Email size, attachment size, recipients, storage duration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Target Variable:</a:t>
            </a:r>
            <a:r>
              <a:rPr lang="en-US" sz="1200" dirty="0">
                <a:solidFill>
                  <a:srgbClr val="FFFFFF"/>
                </a:solidFill>
              </a:rPr>
              <a:t> carbon_emission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2D3748"/>
                </a:solidFill>
              </a:rPr>
              <a:t>Preprocessing: Cleaning missing values, removing inconsistencies, selecting relevant features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C5F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ML Model 1: Spam Detection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4572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371600" y="1097280"/>
            <a:ext cx="7132320" cy="640080"/>
          </a:xfrm>
          <a:prstGeom prst="rect">
            <a:avLst/>
          </a:prstGeom>
          <a:solidFill>
            <a:srgbClr val="97BC62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1554480" y="1234440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Algorithm: </a:t>
            </a:r>
            <a:r>
              <a:rPr lang="en-US" sz="1800" dirty="0">
                <a:solidFill>
                  <a:srgbClr val="FFFFFF"/>
                </a:solidFill>
              </a:rPr>
              <a:t>Random Forest Classifier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57200" y="2011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5F2D"/>
                </a:solidFill>
              </a:rPr>
              <a:t>Objective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3748"/>
                </a:solidFill>
              </a:rPr>
              <a:t>Identify and filter spam emails to reduce unnecessary email traffic, storage requirements, and energy consumption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57200" y="292608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48640" y="30175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</a:rPr>
              <a:t>Input Features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338328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• Email length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• Number of links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• Attachment presence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• Sender type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• Subject length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754880" y="292608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846320" y="30175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</a:rPr>
              <a:t>Target Output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846320" y="338328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D3748"/>
                </a:solidFill>
              </a:rPr>
              <a:t>is_spam variable: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D3748"/>
                </a:solidFill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D3748"/>
                </a:solidFill>
              </a:rPr>
              <a:t>Level 1: Spam email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D3748"/>
                </a:solidFill>
              </a:rPr>
              <a:t>Level 0: Non-spam (legitimate)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C5F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ML Model 2: Importance Classification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4572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371600" y="1097280"/>
            <a:ext cx="7132320" cy="640080"/>
          </a:xfrm>
          <a:prstGeom prst="rect">
            <a:avLst/>
          </a:prstGeom>
          <a:solidFill>
            <a:srgbClr val="F96167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1554480" y="1234440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Algorithm: </a:t>
            </a:r>
            <a:r>
              <a:rPr lang="en-US" sz="1800" dirty="0">
                <a:solidFill>
                  <a:srgbClr val="FFFFFF"/>
                </a:solidFill>
              </a:rPr>
              <a:t>Decision Tree Classifier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57200" y="2011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5F2D"/>
                </a:solidFill>
              </a:rPr>
              <a:t>Objective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3748"/>
                </a:solidFill>
              </a:rPr>
              <a:t>Categorize non-spam emails to enable efficient prioritization and reduce unnecessary data retention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57200" y="2926080"/>
            <a:ext cx="3931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48640" y="30175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</a:rPr>
              <a:t>Input Features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3383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• Sender type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• Subject attributes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• Interaction frequency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2D3748"/>
                </a:solidFill>
              </a:rPr>
              <a:t>• </a:t>
            </a:r>
            <a:r>
              <a:rPr lang="en-US" sz="1300" b="1" dirty="0">
                <a:solidFill>
                  <a:srgbClr val="F96167"/>
                </a:solidFill>
              </a:rPr>
              <a:t>Spam detection prediction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754880" y="2926080"/>
            <a:ext cx="3931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846320" y="30175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</a:rPr>
              <a:t>Processing Rule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846320" y="3383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D3748"/>
                </a:solidFill>
              </a:rPr>
              <a:t>Only non-spam emails</a:t>
            </a:r>
            <a:r>
              <a:rPr lang="en-US" sz="1400" dirty="0">
                <a:solidFill>
                  <a:srgbClr val="2D3748"/>
                </a:solidFill>
              </a:rPr>
              <a:t> (Level 0) are processed in this stage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D3748"/>
                </a:solidFill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2D3748"/>
                </a:solidFill>
              </a:rPr>
              <a:t>Output Classes: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D3748"/>
                </a:solidFill>
              </a:rPr>
              <a:t>Important vs. Non-important emails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C5F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ML Model 3: Carbon Emission Estimation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4572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371600" y="1097280"/>
            <a:ext cx="7132320" cy="640080"/>
          </a:xfrm>
          <a:prstGeom prst="rect">
            <a:avLst/>
          </a:prstGeom>
          <a:solidFill>
            <a:srgbClr val="2C5F2D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1554480" y="1234440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Algorithm: </a:t>
            </a:r>
            <a:r>
              <a:rPr lang="en-US" sz="1800" dirty="0">
                <a:solidFill>
                  <a:srgbClr val="FFFFFF"/>
                </a:solidFill>
              </a:rPr>
              <a:t>Linear Regression Model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57200" y="2011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5F2D"/>
                </a:solidFill>
              </a:rPr>
              <a:t>Objective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3748"/>
                </a:solidFill>
              </a:rPr>
              <a:t>Provide quantitative estimation of the carbon footprint associated with email characteristics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57201" y="301752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48640" y="30175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</a:rPr>
              <a:t>Input Features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338328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D3748"/>
                </a:solidFill>
              </a:rPr>
              <a:t>• Email size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D3748"/>
                </a:solidFill>
              </a:rPr>
              <a:t>• Attachment size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D3748"/>
                </a:solidFill>
              </a:rPr>
              <a:t>• Number of recipients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D3748"/>
                </a:solidFill>
              </a:rPr>
              <a:t>• Storage duration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754880" y="3017520"/>
            <a:ext cx="3931920" cy="1371600"/>
          </a:xfrm>
          <a:prstGeom prst="rect">
            <a:avLst/>
          </a:prstGeom>
          <a:solidFill>
            <a:srgbClr val="97BC62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846320" y="30175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Mathematical Model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846320" y="3383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y = β₀ + β₁x₁ + β₂x₂ + β₃x₃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y = carbon emission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x = input features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β = learned coefficients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C5F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Scenario-Based Analysis &amp; Validation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5F2D"/>
                </a:solidFill>
              </a:rPr>
              <a:t>Evaluation Scenarios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931920" cy="548640"/>
          </a:xfrm>
          <a:prstGeom prst="rect">
            <a:avLst/>
          </a:prstGeom>
          <a:solidFill>
            <a:srgbClr val="97BC62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6002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Baseline</a:t>
            </a:r>
            <a:r>
              <a:rPr lang="en-US" sz="1300" dirty="0">
                <a:solidFill>
                  <a:srgbClr val="FFFFFF"/>
                </a:solidFill>
              </a:rPr>
              <a:t>: All emails processed and stored without filtering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3931920" cy="548640"/>
          </a:xfrm>
          <a:prstGeom prst="rect">
            <a:avLst/>
          </a:prstGeom>
          <a:solidFill>
            <a:srgbClr val="2C5F2D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22860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Optimized</a:t>
            </a:r>
            <a:r>
              <a:rPr lang="en-US" sz="1300" dirty="0">
                <a:solidFill>
                  <a:srgbClr val="FFFFFF"/>
                </a:solidFill>
              </a:rPr>
              <a:t>: Spam removed; only important emails retained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3931920" cy="548640"/>
          </a:xfrm>
          <a:prstGeom prst="rect">
            <a:avLst/>
          </a:prstGeom>
          <a:solidFill>
            <a:srgbClr val="F96167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9718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Inefficient</a:t>
            </a:r>
            <a:r>
              <a:rPr lang="en-US" sz="1300" dirty="0">
                <a:solidFill>
                  <a:srgbClr val="FFFFFF"/>
                </a:solidFill>
              </a:rPr>
              <a:t>: All emails (including spam) stored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39319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11887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5F2D"/>
                </a:solidFill>
              </a:rPr>
              <a:t>Validation Metrics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3748"/>
                </a:solidFill>
              </a:rPr>
              <a:t>Classification Models: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• Accuracy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• Precision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• Recall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• F1-score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2D3748"/>
                </a:solidFill>
              </a:rPr>
              <a:t>Regression Model: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• Mean Absolute Error (MAE)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• R² score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5F2D"/>
                </a:solidFill>
              </a:rPr>
              <a:t>✓ Low-cost software solution requiring no additional hardware infrastructure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8016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822960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64008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</a:rPr>
              <a:t>Summary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2560320" y="1389888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Successfully links email communication to digital carbon footprints via practical AI-driven framework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0080" y="2194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</a:rPr>
              <a:t>Key Innovation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2560320" y="2212848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Moving beyond awareness campaigns to an automated system utilizing Random Forest, Decision Tree, and Linear Regression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0080" y="3017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</a:rPr>
              <a:t>Outcomes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2560320" y="3035808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Effective reduction in spam traffic, optimized storage usage, and accurate estimation of avoided carbon emissions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40080" y="3840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</a:rPr>
              <a:t>Broader Impact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560320" y="3858768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</a:rPr>
              <a:t>Demonstrates how organizations can adopt environmentally responsible digital behaviors supported by intelligent computing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4023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4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988595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780</Words>
  <Application>Microsoft Office PowerPoint</Application>
  <PresentationFormat>On-screen Show (16:9)</PresentationFormat>
  <Paragraphs>159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Hidden Environmental Cost of Email Communication</dc:title>
  <dc:subject>PptxGenJS Presentation</dc:subject>
  <dc:creator>UIU Research Team</dc:creator>
  <cp:lastModifiedBy>Ibrahim Zihad</cp:lastModifiedBy>
  <cp:revision>2</cp:revision>
  <dcterms:created xsi:type="dcterms:W3CDTF">2026-04-14T20:43:13Z</dcterms:created>
  <dcterms:modified xsi:type="dcterms:W3CDTF">2026-04-14T21:10:30Z</dcterms:modified>
</cp:coreProperties>
</file>